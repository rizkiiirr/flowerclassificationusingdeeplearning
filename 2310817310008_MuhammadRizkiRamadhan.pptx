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libri (MS)" panose="020B0604020202020204" charset="0"/>
      <p:regular r:id="rId15"/>
    </p:embeddedFont>
    <p:embeddedFont>
      <p:font typeface="Calibri (MS) Bold" panose="020B0604020202020204" charset="0"/>
      <p:regular r:id="rId16"/>
    </p:embeddedFont>
    <p:embeddedFont>
      <p:font typeface="Calibri (MS) Bold Italic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3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12" Type="http://schemas.openxmlformats.org/officeDocument/2006/relationships/oleObject" Target="../embeddings/oleObject10.bin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20.png"/><Relationship Id="rId5" Type="http://schemas.openxmlformats.org/officeDocument/2006/relationships/image" Target="../media/image17.png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12" Type="http://schemas.openxmlformats.org/officeDocument/2006/relationships/oleObject" Target="../embeddings/oleObject16.bin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26.png"/><Relationship Id="rId5" Type="http://schemas.openxmlformats.org/officeDocument/2006/relationships/image" Target="../media/image23.png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8975" y="429122"/>
            <a:ext cx="1284251" cy="1342626"/>
          </a:xfrm>
          <a:custGeom>
            <a:avLst/>
            <a:gdLst/>
            <a:ahLst/>
            <a:cxnLst/>
            <a:rect l="l" t="t" r="r" b="b"/>
            <a:pathLst>
              <a:path w="1284251" h="1342626">
                <a:moveTo>
                  <a:pt x="0" y="0"/>
                </a:moveTo>
                <a:lnTo>
                  <a:pt x="1284251" y="0"/>
                </a:lnTo>
                <a:lnTo>
                  <a:pt x="1284251" y="1342627"/>
                </a:lnTo>
                <a:lnTo>
                  <a:pt x="0" y="13426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3226" y="429122"/>
            <a:ext cx="4396248" cy="1344140"/>
          </a:xfrm>
          <a:custGeom>
            <a:avLst/>
            <a:gdLst/>
            <a:ahLst/>
            <a:cxnLst/>
            <a:rect l="l" t="t" r="r" b="b"/>
            <a:pathLst>
              <a:path w="4396248" h="1344140">
                <a:moveTo>
                  <a:pt x="0" y="0"/>
                </a:moveTo>
                <a:lnTo>
                  <a:pt x="4396248" y="0"/>
                </a:lnTo>
                <a:lnTo>
                  <a:pt x="4396248" y="1344140"/>
                </a:lnTo>
                <a:lnTo>
                  <a:pt x="0" y="1344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107130" y="7070374"/>
            <a:ext cx="1152170" cy="2880426"/>
          </a:xfrm>
          <a:custGeom>
            <a:avLst/>
            <a:gdLst/>
            <a:ahLst/>
            <a:cxnLst/>
            <a:rect l="l" t="t" r="r" b="b"/>
            <a:pathLst>
              <a:path w="1152170" h="2880426">
                <a:moveTo>
                  <a:pt x="1152170" y="0"/>
                </a:moveTo>
                <a:lnTo>
                  <a:pt x="0" y="0"/>
                </a:lnTo>
                <a:lnTo>
                  <a:pt x="0" y="2880427"/>
                </a:lnTo>
                <a:lnTo>
                  <a:pt x="1152170" y="2880427"/>
                </a:lnTo>
                <a:lnTo>
                  <a:pt x="115217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1028700" y="6515018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659095" y="3495940"/>
            <a:ext cx="2602821" cy="2544257"/>
          </a:xfrm>
          <a:custGeom>
            <a:avLst/>
            <a:gdLst/>
            <a:ahLst/>
            <a:cxnLst/>
            <a:rect l="l" t="t" r="r" b="b"/>
            <a:pathLst>
              <a:path w="2602821" h="2544257">
                <a:moveTo>
                  <a:pt x="0" y="0"/>
                </a:moveTo>
                <a:lnTo>
                  <a:pt x="2602821" y="0"/>
                </a:lnTo>
                <a:lnTo>
                  <a:pt x="2602821" y="2544257"/>
                </a:lnTo>
                <a:lnTo>
                  <a:pt x="0" y="25442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049225" y="2831713"/>
            <a:ext cx="12189550" cy="3112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80"/>
              </a:lnSpc>
            </a:pPr>
            <a:r>
              <a:rPr lang="en-US" sz="5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PENERAPAN </a:t>
            </a:r>
            <a:r>
              <a:rPr lang="en-US" sz="5700" b="1" i="1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MACHINE LEARNING</a:t>
            </a:r>
            <a:r>
              <a:rPr lang="en-US" sz="5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DAN </a:t>
            </a:r>
            <a:r>
              <a:rPr lang="en-US" sz="5700" b="1" i="1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DEEP LEARNING</a:t>
            </a:r>
            <a:r>
              <a:rPr lang="en-US" sz="5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UNTUK KLASIFIKASI JENIS BUNGA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1101" y="7648575"/>
            <a:ext cx="6705997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Oleh: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Muhammad Rizki Ramadhan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NIM. 2310817310008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33690" y="333872"/>
            <a:ext cx="4105600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Proyek Akhir Machine Learning</a:t>
            </a:r>
          </a:p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Juni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94992" y="6873703"/>
            <a:ext cx="5070441" cy="4394382"/>
          </a:xfrm>
          <a:custGeom>
            <a:avLst/>
            <a:gdLst/>
            <a:ahLst/>
            <a:cxnLst/>
            <a:rect l="l" t="t" r="r" b="b"/>
            <a:pathLst>
              <a:path w="5070441" h="4394382">
                <a:moveTo>
                  <a:pt x="0" y="0"/>
                </a:moveTo>
                <a:lnTo>
                  <a:pt x="5070441" y="0"/>
                </a:lnTo>
                <a:lnTo>
                  <a:pt x="5070441" y="4394382"/>
                </a:lnTo>
                <a:lnTo>
                  <a:pt x="0" y="43943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84168" y="-307119"/>
            <a:ext cx="2995741" cy="2666209"/>
          </a:xfrm>
          <a:custGeom>
            <a:avLst/>
            <a:gdLst/>
            <a:ahLst/>
            <a:cxnLst/>
            <a:rect l="l" t="t" r="r" b="b"/>
            <a:pathLst>
              <a:path w="2995741" h="2666209">
                <a:moveTo>
                  <a:pt x="0" y="0"/>
                </a:moveTo>
                <a:lnTo>
                  <a:pt x="2995741" y="0"/>
                </a:lnTo>
                <a:lnTo>
                  <a:pt x="2995741" y="2666209"/>
                </a:lnTo>
                <a:lnTo>
                  <a:pt x="0" y="26662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85734" y="2851150"/>
            <a:ext cx="15316532" cy="430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67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Sulit 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membedakan karena </a:t>
            </a: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kemiripan morfologi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pada bunga.</a:t>
            </a:r>
          </a:p>
          <a:p>
            <a:pPr marL="863599" lvl="1" indent="-431800" algn="l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Identifikasi </a:t>
            </a: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manual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</a:t>
            </a: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waktu lama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tidak praktis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863599" lvl="1" indent="-431800" algn="l">
              <a:lnSpc>
                <a:spcPts val="67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Machine learning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membantu </a:t>
            </a: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klasifikasi otomatis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863599" lvl="1" indent="-431800" algn="l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Machine learning </a:t>
            </a: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konvensional 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→ </a:t>
            </a: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terbatas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pada fitur </a:t>
            </a: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kompleks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863599" lvl="1" indent="-431800" algn="l">
              <a:lnSpc>
                <a:spcPts val="67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Deep learning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mampu </a:t>
            </a: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mengatasi 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keterbatasan.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07120" y="809625"/>
            <a:ext cx="5102431" cy="1050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LATAR BELAKANG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71702" y="2469991"/>
            <a:ext cx="6987598" cy="6788309"/>
            <a:chOff x="0" y="0"/>
            <a:chExt cx="9316798" cy="9051079"/>
          </a:xfrm>
        </p:grpSpPr>
        <p:grpSp>
          <p:nvGrpSpPr>
            <p:cNvPr id="3" name="Group 3"/>
            <p:cNvGrpSpPr/>
            <p:nvPr/>
          </p:nvGrpSpPr>
          <p:grpSpPr>
            <a:xfrm>
              <a:off x="5043871" y="0"/>
              <a:ext cx="3550310" cy="3550310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 rot="-540000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812800" y="0"/>
                    </a:moveTo>
                    <a:lnTo>
                      <a:pt x="812800" y="812800"/>
                    </a:lnTo>
                    <a:lnTo>
                      <a:pt x="0" y="8128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</p:spPr>
          </p:sp>
        </p:grpSp>
        <p:grpSp>
          <p:nvGrpSpPr>
            <p:cNvPr id="5" name="Group 5"/>
            <p:cNvGrpSpPr/>
            <p:nvPr/>
          </p:nvGrpSpPr>
          <p:grpSpPr>
            <a:xfrm>
              <a:off x="5044742" y="4687969"/>
              <a:ext cx="3550310" cy="3550310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721746" y="0"/>
              <a:ext cx="3550310" cy="3550310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721746" y="4687969"/>
              <a:ext cx="3550310" cy="355031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060174" y="3630825"/>
              <a:ext cx="2873455" cy="7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spc="10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BINTARO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22995" y="3630825"/>
              <a:ext cx="4993803" cy="7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spc="10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MELATI JAKARTA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8317654"/>
              <a:ext cx="4993803" cy="7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spc="10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MELATI JEPANG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22995" y="8317654"/>
              <a:ext cx="4993803" cy="7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spc="10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TAPAK DARA</a:t>
              </a:r>
            </a:p>
          </p:txBody>
        </p:sp>
      </p:grpSp>
      <p:sp>
        <p:nvSpPr>
          <p:cNvPr id="15" name="Freeform 15"/>
          <p:cNvSpPr/>
          <p:nvPr/>
        </p:nvSpPr>
        <p:spPr>
          <a:xfrm rot="-1389043" flipH="1">
            <a:off x="-1475865" y="-2397528"/>
            <a:ext cx="5009130" cy="5807687"/>
          </a:xfrm>
          <a:custGeom>
            <a:avLst/>
            <a:gdLst/>
            <a:ahLst/>
            <a:cxnLst/>
            <a:rect l="l" t="t" r="r" b="b"/>
            <a:pathLst>
              <a:path w="5009130" h="5807687">
                <a:moveTo>
                  <a:pt x="5009130" y="0"/>
                </a:moveTo>
                <a:lnTo>
                  <a:pt x="0" y="0"/>
                </a:lnTo>
                <a:lnTo>
                  <a:pt x="0" y="5807687"/>
                </a:lnTo>
                <a:lnTo>
                  <a:pt x="5009130" y="5807687"/>
                </a:lnTo>
                <a:lnTo>
                  <a:pt x="500913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319545" y="809625"/>
            <a:ext cx="11648910" cy="105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b="1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DATASET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2193766"/>
            <a:ext cx="9220231" cy="688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“</a:t>
            </a: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Dataset Bunga Lokal Putih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”</a:t>
            </a:r>
          </a:p>
          <a:p>
            <a:pPr marL="863599" lvl="1" indent="-431800" algn="l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 kondisi data, </a:t>
            </a: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latar belakang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jarak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863599" lvl="1" indent="-431800" algn="l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Dikumpulkan </a:t>
            </a: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manual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863599" lvl="1" indent="-431800" algn="l">
              <a:lnSpc>
                <a:spcPts val="67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 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kelas, </a:t>
            </a: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360 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citra/kelas, </a:t>
            </a: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1.440 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citra. </a:t>
            </a:r>
          </a:p>
          <a:p>
            <a:pPr marL="863599" lvl="1" indent="-431800" algn="l">
              <a:lnSpc>
                <a:spcPts val="67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40 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citra asli, </a:t>
            </a: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320 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citra augmentasi.</a:t>
            </a:r>
          </a:p>
          <a:p>
            <a:pPr marL="863599" lvl="1" indent="-431800" algn="l">
              <a:lnSpc>
                <a:spcPts val="67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Horizontal flip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rotasi 90°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penurunan kecerahan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peningkatan kecerahan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863599" lvl="1" indent="-431800" algn="l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Dataset </a:t>
            </a:r>
            <a:r>
              <a:rPr lang="en-US" sz="3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seimbang</a:t>
            </a:r>
            <a:r>
              <a:rPr lang="en-US" sz="3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/>
        </p:nvGraphicFramePr>
        <p:xfrm>
          <a:off x="259220" y="5484912"/>
          <a:ext cx="15373350" cy="4736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8440400" imgH="7810500" progId="Excel.Sheet.12">
                  <p:embed/>
                </p:oleObj>
              </mc:Choice>
              <mc:Fallback>
                <p:oleObj name="Worksheet" r:id="rId2" imgW="18440400" imgH="7810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9220" y="5484912"/>
                        <a:ext cx="15373350" cy="4736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/>
          <p:nvPr/>
        </p:nvGraphicFramePr>
        <p:xfrm>
          <a:off x="3536818" y="5484912"/>
          <a:ext cx="1320165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5836900" imgH="5143500" progId="Excel.Sheet.12">
                  <p:embed/>
                </p:oleObj>
              </mc:Choice>
              <mc:Fallback>
                <p:oleObj name="Worksheet" r:id="rId4" imgW="15836900" imgH="5143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36818" y="5484912"/>
                        <a:ext cx="13201650" cy="251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utoShape 4"/>
          <p:cNvSpPr/>
          <p:nvPr/>
        </p:nvSpPr>
        <p:spPr>
          <a:xfrm>
            <a:off x="9144000" y="1444625"/>
            <a:ext cx="0" cy="8842375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9410700" y="1100217"/>
            <a:ext cx="8497024" cy="5941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1325" lvl="1" indent="-340663" algn="l">
              <a:lnSpc>
                <a:spcPts val="4418"/>
              </a:lnSpc>
              <a:buAutoNum type="arabicPeriod"/>
            </a:pPr>
            <a:r>
              <a:rPr lang="en-US" sz="3155" b="1" i="1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Random Forest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Resize → Grayscale → HOG → Ekstraksi Fitur Warna→ vektor HOG + Fitur Warna → Normalisasi → Pelatihan → Testing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Split Data : Train 70% | Val 10% | Test 20%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Cross-Validation (5-Fold)</a:t>
            </a:r>
          </a:p>
          <a:p>
            <a:pPr algn="l">
              <a:lnSpc>
                <a:spcPts val="4200"/>
              </a:lnSpc>
            </a:pPr>
            <a:endParaRPr lang="en-US" sz="300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4200"/>
              </a:lnSpc>
            </a:pPr>
            <a:endParaRPr lang="en-US" sz="300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4200"/>
              </a:lnSpc>
            </a:pPr>
            <a:endParaRPr lang="en-US" sz="300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Evaluasi Metrik</a:t>
            </a:r>
          </a:p>
          <a:p>
            <a:pPr algn="l">
              <a:lnSpc>
                <a:spcPts val="4200"/>
              </a:lnSpc>
            </a:pPr>
            <a:endParaRPr lang="en-US" sz="300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graphicFrame>
        <p:nvGraphicFramePr>
          <p:cNvPr id="6" name="Object 6"/>
          <p:cNvGraphicFramePr/>
          <p:nvPr/>
        </p:nvGraphicFramePr>
        <p:xfrm>
          <a:off x="10107961" y="4460031"/>
          <a:ext cx="4916398" cy="4023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5892800" imgH="5003800" progId="Excel.Sheet.12">
                  <p:embed/>
                </p:oleObj>
              </mc:Choice>
              <mc:Fallback>
                <p:oleObj name="Worksheet" r:id="rId6" imgW="5892800" imgH="5003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107961" y="4460031"/>
                        <a:ext cx="4916398" cy="40239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/>
          <p:nvPr/>
        </p:nvGraphicFramePr>
        <p:xfrm>
          <a:off x="10107961" y="6601274"/>
          <a:ext cx="8197247" cy="4670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9829800" imgH="6299200" progId="Excel.Sheet.12">
                  <p:embed/>
                </p:oleObj>
              </mc:Choice>
              <mc:Fallback>
                <p:oleObj name="Worksheet" r:id="rId8" imgW="9829800" imgH="6299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107961" y="6601274"/>
                        <a:ext cx="8197247" cy="46707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380276" y="1100217"/>
            <a:ext cx="8497024" cy="4893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1325" lvl="1" indent="-340663" algn="l">
              <a:lnSpc>
                <a:spcPts val="4418"/>
              </a:lnSpc>
              <a:buAutoNum type="arabicPeriod"/>
            </a:pPr>
            <a:r>
              <a:rPr lang="en-US" sz="3155" b="1" i="1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Support Vector Machine</a:t>
            </a:r>
            <a:r>
              <a:rPr lang="en-US" sz="3155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(SVM) + </a:t>
            </a:r>
          </a:p>
          <a:p>
            <a:pPr algn="l">
              <a:lnSpc>
                <a:spcPts val="4418"/>
              </a:lnSpc>
            </a:pPr>
            <a:r>
              <a:rPr lang="en-US" sz="3155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</a:t>
            </a:r>
            <a:r>
              <a:rPr lang="en-US" sz="3155" b="1" i="1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Histogram of Oriented Gradients</a:t>
            </a:r>
            <a:r>
              <a:rPr lang="en-US" sz="3155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(HOG)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Resize → Grayscale → Kontras → Noise → HOG → Normalisasi Fitur → Hyperparameter → Pelatihan → Testing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Best Parameters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{'C': 10, 'gamma': 0.01, 'kernel': 'rbf'}.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Evaluasi Metrik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143980" y="182642"/>
            <a:ext cx="12359645" cy="105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 UAS DAN HASIL EVALUASI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1444625"/>
            <a:ext cx="0" cy="8842375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380276" y="1100217"/>
            <a:ext cx="8497024" cy="9142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1325" lvl="1" indent="-340663" algn="l">
              <a:lnSpc>
                <a:spcPts val="4418"/>
              </a:lnSpc>
              <a:buAutoNum type="arabicPeriod"/>
            </a:pPr>
            <a:r>
              <a:rPr lang="en-US" sz="3155" b="1" i="1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VGG16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Batch size : 16, Epochs P1/P2 : 15/10.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Split : Train 70% | Val 15% | Test 15%.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Augmentasi: Horizontal Flip, rotasi, zoom, shift, perubahan kecerahan.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Phase 1: Head Training (Backbone Frozen).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Phase 2: Fine-Tuning.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Evaluasi Metrik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aphicFrame>
        <p:nvGraphicFramePr>
          <p:cNvPr id="4" name="Object 4"/>
          <p:cNvGraphicFramePr/>
          <p:nvPr/>
        </p:nvGraphicFramePr>
        <p:xfrm>
          <a:off x="1028700" y="4413356"/>
          <a:ext cx="8657147" cy="2319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388600" imgH="4038600" progId="Excel.Sheet.12">
                  <p:embed/>
                </p:oleObj>
              </mc:Choice>
              <mc:Fallback>
                <p:oleObj name="Worksheet" r:id="rId2" imgW="10388600" imgH="4038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700" y="4413356"/>
                        <a:ext cx="8657147" cy="23193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/>
          <p:nvPr/>
        </p:nvGraphicFramePr>
        <p:xfrm>
          <a:off x="1028700" y="6010095"/>
          <a:ext cx="9997569" cy="1485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2001500" imgH="3479800" progId="Excel.Sheet.12">
                  <p:embed/>
                </p:oleObj>
              </mc:Choice>
              <mc:Fallback>
                <p:oleObj name="Worksheet" r:id="rId4" imgW="12001500" imgH="3479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8700" y="6010095"/>
                        <a:ext cx="9997569" cy="14856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/>
          <p:nvPr/>
        </p:nvGraphicFramePr>
        <p:xfrm>
          <a:off x="1028700" y="7680102"/>
          <a:ext cx="9997569" cy="1485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12001500" imgH="3479800" progId="Excel.Sheet.12">
                  <p:embed/>
                </p:oleObj>
              </mc:Choice>
              <mc:Fallback>
                <p:oleObj name="Worksheet" r:id="rId6" imgW="12001500" imgH="3479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28700" y="7680102"/>
                        <a:ext cx="9997569" cy="14856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9410700" y="1144978"/>
            <a:ext cx="8497024" cy="9142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1325" lvl="1" indent="-340663" algn="l">
              <a:lnSpc>
                <a:spcPts val="4418"/>
              </a:lnSpc>
              <a:buAutoNum type="arabicPeriod"/>
            </a:pPr>
            <a:r>
              <a:rPr lang="en-US" sz="3155" b="1" i="1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MobileNetV2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Batch size : 32, Epochs P1/P2 : 20/10.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Split : Train 70% | Val 10% | Test 20%.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Augmentasi: Horizontal Flip, rotasi, zoom, shift, perubahan kecerahan.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Phase 1: Head Training (Backbone Frozen).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Phase 2: Fine-Tuning.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Evaluasi Metrik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aphicFrame>
        <p:nvGraphicFramePr>
          <p:cNvPr id="8" name="Object 8"/>
          <p:cNvGraphicFramePr/>
          <p:nvPr/>
        </p:nvGraphicFramePr>
        <p:xfrm>
          <a:off x="10086395" y="4413356"/>
          <a:ext cx="9997569" cy="1485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12001500" imgH="3479800" progId="Excel.Sheet.12">
                  <p:embed/>
                </p:oleObj>
              </mc:Choice>
              <mc:Fallback>
                <p:oleObj name="Worksheet" r:id="rId8" imgW="12001500" imgH="3479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086395" y="4413356"/>
                        <a:ext cx="9997569" cy="14856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/>
          <p:nvPr/>
        </p:nvGraphicFramePr>
        <p:xfrm>
          <a:off x="10086395" y="6010095"/>
          <a:ext cx="10759357" cy="1485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0" imgW="12915900" imgH="3632200" progId="Excel.Sheet.12">
                  <p:embed/>
                </p:oleObj>
              </mc:Choice>
              <mc:Fallback>
                <p:oleObj name="Worksheet" r:id="rId10" imgW="12915900" imgH="3632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086395" y="6010095"/>
                        <a:ext cx="10759357" cy="14855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/>
          <p:nvPr/>
        </p:nvGraphicFramePr>
        <p:xfrm>
          <a:off x="10086395" y="7680102"/>
          <a:ext cx="11141454" cy="2086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2" imgW="13373100" imgH="4305300" progId="Excel.Sheet.12">
                  <p:embed/>
                </p:oleObj>
              </mc:Choice>
              <mc:Fallback>
                <p:oleObj name="Worksheet" r:id="rId12" imgW="13373100" imgH="43053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086395" y="7680102"/>
                        <a:ext cx="11141454" cy="20867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3143980" y="182642"/>
            <a:ext cx="12359645" cy="105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 UAS DAN HASIL EVALUASI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1444625"/>
            <a:ext cx="0" cy="8842375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380276" y="1100217"/>
            <a:ext cx="8497024" cy="9142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1325" lvl="1" indent="-340663" algn="l">
              <a:lnSpc>
                <a:spcPts val="4418"/>
              </a:lnSpc>
              <a:buAutoNum type="arabicPeriod"/>
            </a:pPr>
            <a:r>
              <a:rPr lang="en-US" sz="3155" b="1" i="1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VGG16 + SVM (LINEAR)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Batch size : 32, Epochs P1/P2 : 15/10.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Split : Train 70% | Val 10% | Test 20%.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Augmentasi: Horizontal/Vertical Flip, rotasi, zoom, shift, perubahan kecerahan.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Phase 1: Training classification head (base frozen).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Phase 2: Fine-Tuning.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Evaluasi Metrik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aphicFrame>
        <p:nvGraphicFramePr>
          <p:cNvPr id="4" name="Object 4"/>
          <p:cNvGraphicFramePr/>
          <p:nvPr/>
        </p:nvGraphicFramePr>
        <p:xfrm>
          <a:off x="1028700" y="4413356"/>
          <a:ext cx="8657147" cy="2319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388600" imgH="4038600" progId="Excel.Sheet.12">
                  <p:embed/>
                </p:oleObj>
              </mc:Choice>
              <mc:Fallback>
                <p:oleObj name="Worksheet" r:id="rId2" imgW="10388600" imgH="4038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700" y="4413356"/>
                        <a:ext cx="8657147" cy="23193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/>
          <p:nvPr/>
        </p:nvGraphicFramePr>
        <p:xfrm>
          <a:off x="1028700" y="6010095"/>
          <a:ext cx="9997569" cy="1485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2001500" imgH="3479800" progId="Excel.Sheet.12">
                  <p:embed/>
                </p:oleObj>
              </mc:Choice>
              <mc:Fallback>
                <p:oleObj name="Worksheet" r:id="rId4" imgW="12001500" imgH="3479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8700" y="6010095"/>
                        <a:ext cx="9997569" cy="14856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/>
          <p:nvPr/>
        </p:nvGraphicFramePr>
        <p:xfrm>
          <a:off x="1028700" y="7680102"/>
          <a:ext cx="9997569" cy="1485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12001500" imgH="3479800" progId="Excel.Sheet.12">
                  <p:embed/>
                </p:oleObj>
              </mc:Choice>
              <mc:Fallback>
                <p:oleObj name="Worksheet" r:id="rId6" imgW="12001500" imgH="3479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28700" y="7680102"/>
                        <a:ext cx="9997569" cy="14856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9410700" y="1144978"/>
            <a:ext cx="8497024" cy="9142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1325" lvl="1" indent="-340663" algn="l">
              <a:lnSpc>
                <a:spcPts val="4418"/>
              </a:lnSpc>
              <a:buAutoNum type="arabicPeriod"/>
            </a:pPr>
            <a:r>
              <a:rPr lang="en-US" sz="3155" b="1" i="1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MobileNetV2 + Random Forest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Batch size : 32, Epochs P1/P2 : 20/10.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Split : Train 70% | Val 10% | Test 20%.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Augmentasi: Horizontal Flip, rotasi, zoom, shift, perubahan kecerahan.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Phase 1: Head Training (Backbone Frozen).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Phase 2: Fine-Tuning.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Evaluasi Metrik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aphicFrame>
        <p:nvGraphicFramePr>
          <p:cNvPr id="8" name="Object 8"/>
          <p:cNvGraphicFramePr/>
          <p:nvPr/>
        </p:nvGraphicFramePr>
        <p:xfrm>
          <a:off x="10086395" y="4413356"/>
          <a:ext cx="9997569" cy="1485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12001500" imgH="3479800" progId="Excel.Sheet.12">
                  <p:embed/>
                </p:oleObj>
              </mc:Choice>
              <mc:Fallback>
                <p:oleObj name="Worksheet" r:id="rId8" imgW="12001500" imgH="3479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086395" y="4413356"/>
                        <a:ext cx="9997569" cy="14856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/>
          <p:nvPr/>
        </p:nvGraphicFramePr>
        <p:xfrm>
          <a:off x="10086395" y="6010095"/>
          <a:ext cx="10759357" cy="1485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0" imgW="12915900" imgH="3632200" progId="Excel.Sheet.12">
                  <p:embed/>
                </p:oleObj>
              </mc:Choice>
              <mc:Fallback>
                <p:oleObj name="Worksheet" r:id="rId10" imgW="12915900" imgH="3632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086395" y="6010095"/>
                        <a:ext cx="10759357" cy="14855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/>
          <p:nvPr/>
        </p:nvGraphicFramePr>
        <p:xfrm>
          <a:off x="10086395" y="7680102"/>
          <a:ext cx="11141454" cy="2086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2" imgW="13373100" imgH="4305300" progId="Excel.Sheet.12">
                  <p:embed/>
                </p:oleObj>
              </mc:Choice>
              <mc:Fallback>
                <p:oleObj name="Worksheet" r:id="rId12" imgW="13373100" imgH="43053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086395" y="7680102"/>
                        <a:ext cx="11141454" cy="20867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3143980" y="182642"/>
            <a:ext cx="12359645" cy="105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 UAS DAN HASIL EVALUASI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1683" y="2142661"/>
            <a:ext cx="17124634" cy="4083216"/>
            <a:chOff x="0" y="0"/>
            <a:chExt cx="22832845" cy="544428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443017" cy="2072572"/>
              <a:chOff x="0" y="0"/>
              <a:chExt cx="1350247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35024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350247" h="812800">
                    <a:moveTo>
                      <a:pt x="675124" y="0"/>
                    </a:moveTo>
                    <a:cubicBezTo>
                      <a:pt x="302263" y="0"/>
                      <a:pt x="0" y="181951"/>
                      <a:pt x="0" y="406400"/>
                    </a:cubicBezTo>
                    <a:cubicBezTo>
                      <a:pt x="0" y="630849"/>
                      <a:pt x="302263" y="812800"/>
                      <a:pt x="675124" y="812800"/>
                    </a:cubicBezTo>
                    <a:cubicBezTo>
                      <a:pt x="1047984" y="812800"/>
                      <a:pt x="1350247" y="630849"/>
                      <a:pt x="1350247" y="406400"/>
                    </a:cubicBezTo>
                    <a:cubicBezTo>
                      <a:pt x="1350247" y="181951"/>
                      <a:pt x="1047984" y="0"/>
                      <a:pt x="675124" y="0"/>
                    </a:cubicBezTo>
                    <a:close/>
                  </a:path>
                </a:pathLst>
              </a:custGeom>
              <a:solidFill>
                <a:srgbClr val="038800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126586" y="-19050"/>
                <a:ext cx="1097076" cy="755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MULAI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4997060" y="270866"/>
              <a:ext cx="2939835" cy="1530839"/>
              <a:chOff x="0" y="0"/>
              <a:chExt cx="559252" cy="29121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59252" cy="291215"/>
              </a:xfrm>
              <a:custGeom>
                <a:avLst/>
                <a:gdLst/>
                <a:ahLst/>
                <a:cxnLst/>
                <a:rect l="l" t="t" r="r" b="b"/>
                <a:pathLst>
                  <a:path w="559252" h="291215">
                    <a:moveTo>
                      <a:pt x="0" y="0"/>
                    </a:moveTo>
                    <a:lnTo>
                      <a:pt x="559252" y="0"/>
                    </a:lnTo>
                    <a:lnTo>
                      <a:pt x="559252" y="291215"/>
                    </a:lnTo>
                    <a:lnTo>
                      <a:pt x="0" y="291215"/>
                    </a:lnTo>
                    <a:close/>
                  </a:path>
                </a:pathLst>
              </a:custGeom>
              <a:solidFill>
                <a:srgbClr val="CFE7D0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559252" cy="3674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Identifikasi </a:t>
                </a:r>
              </a:p>
              <a:p>
                <a:pPr algn="ctr">
                  <a:lnSpc>
                    <a:spcPts val="2659"/>
                  </a:lnSpc>
                </a:pPr>
                <a:r>
                  <a:rPr lang="en-US" sz="18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Masalah</a:t>
                </a: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9994106" y="270866"/>
              <a:ext cx="2939835" cy="1530839"/>
              <a:chOff x="0" y="0"/>
              <a:chExt cx="559252" cy="2912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59252" cy="291215"/>
              </a:xfrm>
              <a:custGeom>
                <a:avLst/>
                <a:gdLst/>
                <a:ahLst/>
                <a:cxnLst/>
                <a:rect l="l" t="t" r="r" b="b"/>
                <a:pathLst>
                  <a:path w="559252" h="291215">
                    <a:moveTo>
                      <a:pt x="0" y="0"/>
                    </a:moveTo>
                    <a:lnTo>
                      <a:pt x="559252" y="0"/>
                    </a:lnTo>
                    <a:lnTo>
                      <a:pt x="559252" y="291215"/>
                    </a:lnTo>
                    <a:lnTo>
                      <a:pt x="0" y="291215"/>
                    </a:lnTo>
                    <a:close/>
                  </a:path>
                </a:pathLst>
              </a:custGeom>
              <a:solidFill>
                <a:srgbClr val="038800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76200"/>
                <a:ext cx="559252" cy="3674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Studi Literatur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4994643" y="270866"/>
              <a:ext cx="2939835" cy="1530839"/>
              <a:chOff x="0" y="0"/>
              <a:chExt cx="559252" cy="29121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59252" cy="291215"/>
              </a:xfrm>
              <a:custGeom>
                <a:avLst/>
                <a:gdLst/>
                <a:ahLst/>
                <a:cxnLst/>
                <a:rect l="l" t="t" r="r" b="b"/>
                <a:pathLst>
                  <a:path w="559252" h="291215">
                    <a:moveTo>
                      <a:pt x="0" y="0"/>
                    </a:moveTo>
                    <a:lnTo>
                      <a:pt x="559252" y="0"/>
                    </a:lnTo>
                    <a:lnTo>
                      <a:pt x="559252" y="291215"/>
                    </a:lnTo>
                    <a:lnTo>
                      <a:pt x="0" y="291215"/>
                    </a:lnTo>
                    <a:close/>
                  </a:path>
                </a:pathLst>
              </a:custGeom>
              <a:solidFill>
                <a:srgbClr val="CFE7D0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76200"/>
                <a:ext cx="559252" cy="3674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Pengumpulan</a:t>
                </a:r>
              </a:p>
              <a:p>
                <a:pPr algn="ctr">
                  <a:lnSpc>
                    <a:spcPts val="2659"/>
                  </a:lnSpc>
                </a:pPr>
                <a:r>
                  <a:rPr lang="en-US" sz="18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Data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9759726" y="270866"/>
              <a:ext cx="2939835" cy="1530839"/>
              <a:chOff x="0" y="0"/>
              <a:chExt cx="559252" cy="29121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59252" cy="291215"/>
              </a:xfrm>
              <a:custGeom>
                <a:avLst/>
                <a:gdLst/>
                <a:ahLst/>
                <a:cxnLst/>
                <a:rect l="l" t="t" r="r" b="b"/>
                <a:pathLst>
                  <a:path w="559252" h="291215">
                    <a:moveTo>
                      <a:pt x="0" y="0"/>
                    </a:moveTo>
                    <a:lnTo>
                      <a:pt x="559252" y="0"/>
                    </a:lnTo>
                    <a:lnTo>
                      <a:pt x="559252" y="291215"/>
                    </a:lnTo>
                    <a:lnTo>
                      <a:pt x="0" y="291215"/>
                    </a:lnTo>
                    <a:close/>
                  </a:path>
                </a:pathLst>
              </a:custGeom>
              <a:solidFill>
                <a:srgbClr val="038800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76200"/>
                <a:ext cx="559252" cy="3674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Penegmbangan dan Pelatihan Model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9626443" y="3642583"/>
              <a:ext cx="3206402" cy="1553027"/>
              <a:chOff x="0" y="0"/>
              <a:chExt cx="609961" cy="29543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09961" cy="295436"/>
              </a:xfrm>
              <a:custGeom>
                <a:avLst/>
                <a:gdLst/>
                <a:ahLst/>
                <a:cxnLst/>
                <a:rect l="l" t="t" r="r" b="b"/>
                <a:pathLst>
                  <a:path w="609961" h="295436">
                    <a:moveTo>
                      <a:pt x="0" y="0"/>
                    </a:moveTo>
                    <a:lnTo>
                      <a:pt x="609961" y="0"/>
                    </a:lnTo>
                    <a:lnTo>
                      <a:pt x="609961" y="295436"/>
                    </a:lnTo>
                    <a:lnTo>
                      <a:pt x="0" y="295436"/>
                    </a:lnTo>
                    <a:close/>
                  </a:path>
                </a:pathLst>
              </a:custGeom>
              <a:solidFill>
                <a:srgbClr val="CFE7D0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76200"/>
                <a:ext cx="609961" cy="371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Evaluasi dan Analisis Hasil Pengembangan dan Pelatihan Modal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4994643" y="3642583"/>
              <a:ext cx="2939835" cy="1553027"/>
              <a:chOff x="0" y="0"/>
              <a:chExt cx="559252" cy="29543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559252" cy="295436"/>
              </a:xfrm>
              <a:custGeom>
                <a:avLst/>
                <a:gdLst/>
                <a:ahLst/>
                <a:cxnLst/>
                <a:rect l="l" t="t" r="r" b="b"/>
                <a:pathLst>
                  <a:path w="559252" h="295436">
                    <a:moveTo>
                      <a:pt x="0" y="0"/>
                    </a:moveTo>
                    <a:lnTo>
                      <a:pt x="559252" y="0"/>
                    </a:lnTo>
                    <a:lnTo>
                      <a:pt x="559252" y="295436"/>
                    </a:lnTo>
                    <a:lnTo>
                      <a:pt x="0" y="295436"/>
                    </a:lnTo>
                    <a:close/>
                  </a:path>
                </a:pathLst>
              </a:custGeom>
              <a:solidFill>
                <a:srgbClr val="038800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76200"/>
                <a:ext cx="559252" cy="371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Implementasi Model ke Dataset Uji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9994106" y="3642583"/>
              <a:ext cx="2939835" cy="1530839"/>
              <a:chOff x="0" y="0"/>
              <a:chExt cx="559252" cy="29121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559252" cy="291215"/>
              </a:xfrm>
              <a:custGeom>
                <a:avLst/>
                <a:gdLst/>
                <a:ahLst/>
                <a:cxnLst/>
                <a:rect l="l" t="t" r="r" b="b"/>
                <a:pathLst>
                  <a:path w="559252" h="291215">
                    <a:moveTo>
                      <a:pt x="0" y="0"/>
                    </a:moveTo>
                    <a:lnTo>
                      <a:pt x="559252" y="0"/>
                    </a:lnTo>
                    <a:lnTo>
                      <a:pt x="559252" y="291215"/>
                    </a:lnTo>
                    <a:lnTo>
                      <a:pt x="0" y="291215"/>
                    </a:lnTo>
                    <a:close/>
                  </a:path>
                </a:pathLst>
              </a:custGeom>
              <a:solidFill>
                <a:srgbClr val="CFE7D0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76200"/>
                <a:ext cx="559252" cy="3674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Analisis hasil Pengujian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702461" y="3371717"/>
              <a:ext cx="3443017" cy="2072572"/>
              <a:chOff x="0" y="0"/>
              <a:chExt cx="1350247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35024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350247" h="812800">
                    <a:moveTo>
                      <a:pt x="675124" y="0"/>
                    </a:moveTo>
                    <a:cubicBezTo>
                      <a:pt x="302263" y="0"/>
                      <a:pt x="0" y="181951"/>
                      <a:pt x="0" y="406400"/>
                    </a:cubicBezTo>
                    <a:cubicBezTo>
                      <a:pt x="0" y="630849"/>
                      <a:pt x="302263" y="812800"/>
                      <a:pt x="675124" y="812800"/>
                    </a:cubicBezTo>
                    <a:cubicBezTo>
                      <a:pt x="1047984" y="812800"/>
                      <a:pt x="1350247" y="630849"/>
                      <a:pt x="1350247" y="406400"/>
                    </a:cubicBezTo>
                    <a:cubicBezTo>
                      <a:pt x="1350247" y="181951"/>
                      <a:pt x="1047984" y="0"/>
                      <a:pt x="675124" y="0"/>
                    </a:cubicBezTo>
                    <a:close/>
                  </a:path>
                </a:pathLst>
              </a:custGeom>
              <a:solidFill>
                <a:srgbClr val="038800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26586" y="-19050"/>
                <a:ext cx="1097076" cy="755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Selesai</a:t>
                </a:r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7936895" y="1036286"/>
              <a:ext cx="2057211" cy="0"/>
            </a:xfrm>
            <a:prstGeom prst="line">
              <a:avLst/>
            </a:prstGeom>
            <a:ln w="5274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3443017" y="1036286"/>
              <a:ext cx="1554043" cy="0"/>
            </a:xfrm>
            <a:prstGeom prst="line">
              <a:avLst/>
            </a:prstGeom>
            <a:ln w="52749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" name="AutoShape 32"/>
            <p:cNvSpPr/>
            <p:nvPr/>
          </p:nvSpPr>
          <p:spPr>
            <a:xfrm flipH="1">
              <a:off x="8145478" y="4408003"/>
              <a:ext cx="1848628" cy="0"/>
            </a:xfrm>
            <a:prstGeom prst="line">
              <a:avLst/>
            </a:prstGeom>
            <a:ln w="52749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3" name="AutoShape 33"/>
            <p:cNvSpPr/>
            <p:nvPr/>
          </p:nvSpPr>
          <p:spPr>
            <a:xfrm flipH="1" flipV="1">
              <a:off x="12933941" y="4408003"/>
              <a:ext cx="2060701" cy="11094"/>
            </a:xfrm>
            <a:prstGeom prst="line">
              <a:avLst/>
            </a:prstGeom>
            <a:ln w="52749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4" name="AutoShape 34"/>
            <p:cNvSpPr/>
            <p:nvPr/>
          </p:nvSpPr>
          <p:spPr>
            <a:xfrm flipH="1">
              <a:off x="17934478" y="4419097"/>
              <a:ext cx="1691965" cy="0"/>
            </a:xfrm>
            <a:prstGeom prst="line">
              <a:avLst/>
            </a:prstGeom>
            <a:ln w="52749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21229644" y="1801705"/>
              <a:ext cx="0" cy="1840878"/>
            </a:xfrm>
            <a:prstGeom prst="line">
              <a:avLst/>
            </a:prstGeom>
            <a:ln w="52749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6" name="AutoShape 36"/>
            <p:cNvSpPr/>
            <p:nvPr/>
          </p:nvSpPr>
          <p:spPr>
            <a:xfrm flipV="1">
              <a:off x="17934478" y="1036286"/>
              <a:ext cx="1825249" cy="0"/>
            </a:xfrm>
            <a:prstGeom prst="line">
              <a:avLst/>
            </a:prstGeom>
            <a:ln w="52749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12933941" y="1036286"/>
              <a:ext cx="2060701" cy="0"/>
            </a:xfrm>
            <a:prstGeom prst="line">
              <a:avLst/>
            </a:prstGeom>
            <a:ln w="52749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-180975" y="7437260"/>
            <a:ext cx="18881393" cy="4037275"/>
            <a:chOff x="0" y="0"/>
            <a:chExt cx="25175191" cy="5383033"/>
          </a:xfrm>
        </p:grpSpPr>
        <p:sp>
          <p:nvSpPr>
            <p:cNvPr id="39" name="Freeform 39"/>
            <p:cNvSpPr/>
            <p:nvPr/>
          </p:nvSpPr>
          <p:spPr>
            <a:xfrm>
              <a:off x="0" y="762705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3" y="0"/>
                  </a:lnTo>
                  <a:lnTo>
                    <a:pt x="1758923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0" name="Freeform 40"/>
            <p:cNvSpPr/>
            <p:nvPr/>
          </p:nvSpPr>
          <p:spPr>
            <a:xfrm>
              <a:off x="733439" y="528226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2" y="0"/>
                  </a:lnTo>
                  <a:lnTo>
                    <a:pt x="1758922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1" name="Freeform 41"/>
            <p:cNvSpPr/>
            <p:nvPr/>
          </p:nvSpPr>
          <p:spPr>
            <a:xfrm>
              <a:off x="1120761" y="528226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3" y="0"/>
                  </a:lnTo>
                  <a:lnTo>
                    <a:pt x="1758923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2" name="Freeform 42"/>
            <p:cNvSpPr/>
            <p:nvPr/>
          </p:nvSpPr>
          <p:spPr>
            <a:xfrm>
              <a:off x="2000223" y="1036263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2" y="0"/>
                  </a:lnTo>
                  <a:lnTo>
                    <a:pt x="1758922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3" name="Freeform 43"/>
            <p:cNvSpPr/>
            <p:nvPr/>
          </p:nvSpPr>
          <p:spPr>
            <a:xfrm>
              <a:off x="2492361" y="528226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3" y="0"/>
                  </a:lnTo>
                  <a:lnTo>
                    <a:pt x="1758923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4" name="Freeform 44"/>
            <p:cNvSpPr/>
            <p:nvPr/>
          </p:nvSpPr>
          <p:spPr>
            <a:xfrm>
              <a:off x="3371823" y="1036263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2" y="0"/>
                  </a:lnTo>
                  <a:lnTo>
                    <a:pt x="1758922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5" name="Freeform 45"/>
            <p:cNvSpPr/>
            <p:nvPr/>
          </p:nvSpPr>
          <p:spPr>
            <a:xfrm>
              <a:off x="4251284" y="528226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3" y="0"/>
                  </a:lnTo>
                  <a:lnTo>
                    <a:pt x="1758923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6" name="Freeform 46"/>
            <p:cNvSpPr/>
            <p:nvPr/>
          </p:nvSpPr>
          <p:spPr>
            <a:xfrm>
              <a:off x="5130745" y="528226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3" y="0"/>
                  </a:lnTo>
                  <a:lnTo>
                    <a:pt x="1758923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7" name="Freeform 47"/>
            <p:cNvSpPr/>
            <p:nvPr/>
          </p:nvSpPr>
          <p:spPr>
            <a:xfrm>
              <a:off x="5626045" y="1278543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3" y="0"/>
                  </a:lnTo>
                  <a:lnTo>
                    <a:pt x="1758923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8" name="Freeform 48"/>
            <p:cNvSpPr/>
            <p:nvPr/>
          </p:nvSpPr>
          <p:spPr>
            <a:xfrm>
              <a:off x="6505507" y="528226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2" y="0"/>
                  </a:lnTo>
                  <a:lnTo>
                    <a:pt x="1758922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9" name="Freeform 49"/>
            <p:cNvSpPr/>
            <p:nvPr/>
          </p:nvSpPr>
          <p:spPr>
            <a:xfrm>
              <a:off x="7127140" y="528226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3" y="0"/>
                  </a:lnTo>
                  <a:lnTo>
                    <a:pt x="1758923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50" name="Freeform 50"/>
            <p:cNvSpPr/>
            <p:nvPr/>
          </p:nvSpPr>
          <p:spPr>
            <a:xfrm>
              <a:off x="7896332" y="1278543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2" y="0"/>
                  </a:lnTo>
                  <a:lnTo>
                    <a:pt x="1758922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51" name="Freeform 51"/>
            <p:cNvSpPr/>
            <p:nvPr/>
          </p:nvSpPr>
          <p:spPr>
            <a:xfrm>
              <a:off x="9896554" y="762705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3" y="0"/>
                  </a:lnTo>
                  <a:lnTo>
                    <a:pt x="1758923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52" name="Freeform 52"/>
            <p:cNvSpPr/>
            <p:nvPr/>
          </p:nvSpPr>
          <p:spPr>
            <a:xfrm>
              <a:off x="8645429" y="528226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3" y="0"/>
                  </a:lnTo>
                  <a:lnTo>
                    <a:pt x="1758923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53" name="Freeform 53"/>
            <p:cNvSpPr/>
            <p:nvPr/>
          </p:nvSpPr>
          <p:spPr>
            <a:xfrm>
              <a:off x="9381363" y="1278543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3" y="0"/>
                  </a:lnTo>
                  <a:lnTo>
                    <a:pt x="1758923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54" name="Freeform 54"/>
            <p:cNvSpPr/>
            <p:nvPr/>
          </p:nvSpPr>
          <p:spPr>
            <a:xfrm>
              <a:off x="10785352" y="528226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3" y="0"/>
                  </a:lnTo>
                  <a:lnTo>
                    <a:pt x="1758923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55" name="Freeform 55"/>
            <p:cNvSpPr/>
            <p:nvPr/>
          </p:nvSpPr>
          <p:spPr>
            <a:xfrm>
              <a:off x="11381586" y="1278543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2" y="0"/>
                  </a:lnTo>
                  <a:lnTo>
                    <a:pt x="1758922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56" name="Freeform 56"/>
            <p:cNvSpPr/>
            <p:nvPr/>
          </p:nvSpPr>
          <p:spPr>
            <a:xfrm>
              <a:off x="12261047" y="1278543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3" y="0"/>
                  </a:lnTo>
                  <a:lnTo>
                    <a:pt x="1758923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57" name="Freeform 57"/>
            <p:cNvSpPr/>
            <p:nvPr/>
          </p:nvSpPr>
          <p:spPr>
            <a:xfrm>
              <a:off x="13052275" y="762705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3" y="0"/>
                  </a:lnTo>
                  <a:lnTo>
                    <a:pt x="1758923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58" name="Freeform 58"/>
            <p:cNvSpPr/>
            <p:nvPr/>
          </p:nvSpPr>
          <p:spPr>
            <a:xfrm>
              <a:off x="13997378" y="567306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3" y="0"/>
                  </a:lnTo>
                  <a:lnTo>
                    <a:pt x="1758923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59" name="Freeform 59"/>
            <p:cNvSpPr/>
            <p:nvPr/>
          </p:nvSpPr>
          <p:spPr>
            <a:xfrm>
              <a:off x="15130691" y="567306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3" y="0"/>
                  </a:lnTo>
                  <a:lnTo>
                    <a:pt x="1758923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60" name="Freeform 60"/>
            <p:cNvSpPr/>
            <p:nvPr/>
          </p:nvSpPr>
          <p:spPr>
            <a:xfrm>
              <a:off x="15687498" y="0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2" y="0"/>
                  </a:lnTo>
                  <a:lnTo>
                    <a:pt x="1758922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61" name="Freeform 61"/>
            <p:cNvSpPr/>
            <p:nvPr/>
          </p:nvSpPr>
          <p:spPr>
            <a:xfrm>
              <a:off x="16369612" y="1583380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3" y="0"/>
                  </a:lnTo>
                  <a:lnTo>
                    <a:pt x="1758923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62" name="Freeform 62"/>
            <p:cNvSpPr/>
            <p:nvPr/>
          </p:nvSpPr>
          <p:spPr>
            <a:xfrm>
              <a:off x="16889614" y="528226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3" y="0"/>
                  </a:lnTo>
                  <a:lnTo>
                    <a:pt x="1758923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63" name="Freeform 63"/>
            <p:cNvSpPr/>
            <p:nvPr/>
          </p:nvSpPr>
          <p:spPr>
            <a:xfrm>
              <a:off x="17749036" y="176509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2" y="0"/>
                  </a:lnTo>
                  <a:lnTo>
                    <a:pt x="1758922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64" name="Freeform 64"/>
            <p:cNvSpPr/>
            <p:nvPr/>
          </p:nvSpPr>
          <p:spPr>
            <a:xfrm>
              <a:off x="18369835" y="1036263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2" y="0"/>
                  </a:lnTo>
                  <a:lnTo>
                    <a:pt x="1758922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65" name="Freeform 65"/>
            <p:cNvSpPr/>
            <p:nvPr/>
          </p:nvSpPr>
          <p:spPr>
            <a:xfrm>
              <a:off x="19234067" y="1153503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2" y="0"/>
                  </a:lnTo>
                  <a:lnTo>
                    <a:pt x="1758922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66" name="Freeform 66"/>
            <p:cNvSpPr/>
            <p:nvPr/>
          </p:nvSpPr>
          <p:spPr>
            <a:xfrm>
              <a:off x="19898423" y="176509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3" y="0"/>
                  </a:lnTo>
                  <a:lnTo>
                    <a:pt x="1758923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67" name="Freeform 67"/>
            <p:cNvSpPr/>
            <p:nvPr/>
          </p:nvSpPr>
          <p:spPr>
            <a:xfrm>
              <a:off x="20128757" y="1583380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3" y="0"/>
                  </a:lnTo>
                  <a:lnTo>
                    <a:pt x="1758923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68" name="Freeform 68"/>
            <p:cNvSpPr/>
            <p:nvPr/>
          </p:nvSpPr>
          <p:spPr>
            <a:xfrm>
              <a:off x="20992357" y="1278543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3" y="0"/>
                  </a:lnTo>
                  <a:lnTo>
                    <a:pt x="1758923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69" name="Freeform 69"/>
            <p:cNvSpPr/>
            <p:nvPr/>
          </p:nvSpPr>
          <p:spPr>
            <a:xfrm>
              <a:off x="21657346" y="1036263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2" y="0"/>
                  </a:lnTo>
                  <a:lnTo>
                    <a:pt x="1758922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70" name="Freeform 70"/>
            <p:cNvSpPr/>
            <p:nvPr/>
          </p:nvSpPr>
          <p:spPr>
            <a:xfrm>
              <a:off x="22471880" y="528226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3" y="0"/>
                  </a:lnTo>
                  <a:lnTo>
                    <a:pt x="1758923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71" name="Freeform 71"/>
            <p:cNvSpPr/>
            <p:nvPr/>
          </p:nvSpPr>
          <p:spPr>
            <a:xfrm>
              <a:off x="23416268" y="1036263"/>
              <a:ext cx="1758923" cy="3799653"/>
            </a:xfrm>
            <a:custGeom>
              <a:avLst/>
              <a:gdLst/>
              <a:ahLst/>
              <a:cxnLst/>
              <a:rect l="l" t="t" r="r" b="b"/>
              <a:pathLst>
                <a:path w="1758923" h="3799653">
                  <a:moveTo>
                    <a:pt x="0" y="0"/>
                  </a:moveTo>
                  <a:lnTo>
                    <a:pt x="1758923" y="0"/>
                  </a:lnTo>
                  <a:lnTo>
                    <a:pt x="1758923" y="3799653"/>
                  </a:lnTo>
                  <a:lnTo>
                    <a:pt x="0" y="379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72" name="Freeform 72"/>
          <p:cNvSpPr/>
          <p:nvPr/>
        </p:nvSpPr>
        <p:spPr>
          <a:xfrm>
            <a:off x="3555627" y="1425552"/>
            <a:ext cx="1449639" cy="1434218"/>
          </a:xfrm>
          <a:custGeom>
            <a:avLst/>
            <a:gdLst/>
            <a:ahLst/>
            <a:cxnLst/>
            <a:rect l="l" t="t" r="r" b="b"/>
            <a:pathLst>
              <a:path w="1449639" h="1434218">
                <a:moveTo>
                  <a:pt x="0" y="0"/>
                </a:moveTo>
                <a:lnTo>
                  <a:pt x="1449639" y="0"/>
                </a:lnTo>
                <a:lnTo>
                  <a:pt x="1449639" y="1434218"/>
                </a:lnTo>
                <a:lnTo>
                  <a:pt x="0" y="1434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3" name="Freeform 73"/>
          <p:cNvSpPr/>
          <p:nvPr/>
        </p:nvSpPr>
        <p:spPr>
          <a:xfrm>
            <a:off x="13448570" y="3870114"/>
            <a:ext cx="1431635" cy="1273386"/>
          </a:xfrm>
          <a:custGeom>
            <a:avLst/>
            <a:gdLst/>
            <a:ahLst/>
            <a:cxnLst/>
            <a:rect l="l" t="t" r="r" b="b"/>
            <a:pathLst>
              <a:path w="1431635" h="1273386">
                <a:moveTo>
                  <a:pt x="0" y="0"/>
                </a:moveTo>
                <a:lnTo>
                  <a:pt x="1431635" y="0"/>
                </a:lnTo>
                <a:lnTo>
                  <a:pt x="1431635" y="1273386"/>
                </a:lnTo>
                <a:lnTo>
                  <a:pt x="0" y="12733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4" name="TextBox 74"/>
          <p:cNvSpPr txBox="1"/>
          <p:nvPr/>
        </p:nvSpPr>
        <p:spPr>
          <a:xfrm>
            <a:off x="5503627" y="393700"/>
            <a:ext cx="7252203" cy="105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b="1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82495" y="6415344"/>
            <a:ext cx="3823355" cy="3558370"/>
          </a:xfrm>
          <a:custGeom>
            <a:avLst/>
            <a:gdLst/>
            <a:ahLst/>
            <a:cxnLst/>
            <a:rect l="l" t="t" r="r" b="b"/>
            <a:pathLst>
              <a:path w="3823355" h="3558370">
                <a:moveTo>
                  <a:pt x="0" y="0"/>
                </a:moveTo>
                <a:lnTo>
                  <a:pt x="3823355" y="0"/>
                </a:lnTo>
                <a:lnTo>
                  <a:pt x="3823355" y="3558370"/>
                </a:lnTo>
                <a:lnTo>
                  <a:pt x="0" y="35583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9144000" y="1096812"/>
            <a:ext cx="0" cy="9190188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1328852" y="2075235"/>
            <a:ext cx="4168202" cy="3463718"/>
          </a:xfrm>
          <a:custGeom>
            <a:avLst/>
            <a:gdLst/>
            <a:ahLst/>
            <a:cxnLst/>
            <a:rect l="l" t="t" r="r" b="b"/>
            <a:pathLst>
              <a:path w="4168202" h="3463718">
                <a:moveTo>
                  <a:pt x="0" y="0"/>
                </a:moveTo>
                <a:lnTo>
                  <a:pt x="4168203" y="0"/>
                </a:lnTo>
                <a:lnTo>
                  <a:pt x="4168203" y="3463717"/>
                </a:lnTo>
                <a:lnTo>
                  <a:pt x="0" y="34637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873323" y="5786602"/>
            <a:ext cx="7385977" cy="3997660"/>
          </a:xfrm>
          <a:custGeom>
            <a:avLst/>
            <a:gdLst/>
            <a:ahLst/>
            <a:cxnLst/>
            <a:rect l="l" t="t" r="r" b="b"/>
            <a:pathLst>
              <a:path w="7385977" h="3997660">
                <a:moveTo>
                  <a:pt x="0" y="0"/>
                </a:moveTo>
                <a:lnTo>
                  <a:pt x="7385977" y="0"/>
                </a:lnTo>
                <a:lnTo>
                  <a:pt x="7385977" y="3997660"/>
                </a:lnTo>
                <a:lnTo>
                  <a:pt x="0" y="399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2944600"/>
            <a:ext cx="3795665" cy="3470744"/>
          </a:xfrm>
          <a:custGeom>
            <a:avLst/>
            <a:gdLst/>
            <a:ahLst/>
            <a:cxnLst/>
            <a:rect l="l" t="t" r="r" b="b"/>
            <a:pathLst>
              <a:path w="3795665" h="3470744">
                <a:moveTo>
                  <a:pt x="0" y="0"/>
                </a:moveTo>
                <a:lnTo>
                  <a:pt x="3795665" y="0"/>
                </a:lnTo>
                <a:lnTo>
                  <a:pt x="3795665" y="3470744"/>
                </a:lnTo>
                <a:lnTo>
                  <a:pt x="0" y="34707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882495" y="2944600"/>
            <a:ext cx="3729204" cy="3470744"/>
          </a:xfrm>
          <a:custGeom>
            <a:avLst/>
            <a:gdLst/>
            <a:ahLst/>
            <a:cxnLst/>
            <a:rect l="l" t="t" r="r" b="b"/>
            <a:pathLst>
              <a:path w="3729204" h="3470744">
                <a:moveTo>
                  <a:pt x="0" y="0"/>
                </a:moveTo>
                <a:lnTo>
                  <a:pt x="3729204" y="0"/>
                </a:lnTo>
                <a:lnTo>
                  <a:pt x="3729204" y="3470744"/>
                </a:lnTo>
                <a:lnTo>
                  <a:pt x="0" y="3470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470075" y="8194529"/>
            <a:ext cx="2997550" cy="2666209"/>
          </a:xfrm>
          <a:custGeom>
            <a:avLst/>
            <a:gdLst/>
            <a:ahLst/>
            <a:cxnLst/>
            <a:rect l="l" t="t" r="r" b="b"/>
            <a:pathLst>
              <a:path w="2997550" h="2666209">
                <a:moveTo>
                  <a:pt x="0" y="0"/>
                </a:moveTo>
                <a:lnTo>
                  <a:pt x="2997550" y="0"/>
                </a:lnTo>
                <a:lnTo>
                  <a:pt x="2997550" y="2666209"/>
                </a:lnTo>
                <a:lnTo>
                  <a:pt x="0" y="26662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05449" y="-1228444"/>
            <a:ext cx="3732051" cy="3692348"/>
          </a:xfrm>
          <a:custGeom>
            <a:avLst/>
            <a:gdLst/>
            <a:ahLst/>
            <a:cxnLst/>
            <a:rect l="l" t="t" r="r" b="b"/>
            <a:pathLst>
              <a:path w="3732051" h="3692348">
                <a:moveTo>
                  <a:pt x="0" y="0"/>
                </a:moveTo>
                <a:lnTo>
                  <a:pt x="3732051" y="0"/>
                </a:lnTo>
                <a:lnTo>
                  <a:pt x="3732051" y="3692348"/>
                </a:lnTo>
                <a:lnTo>
                  <a:pt x="0" y="36923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1213539"/>
            <a:ext cx="5388998" cy="61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4479"/>
              </a:lnSpc>
              <a:buAutoNum type="arabicPeriod"/>
            </a:pPr>
            <a:r>
              <a:rPr lang="en-US" sz="31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SVM + HOG (Percobaan 3)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73323" y="1213539"/>
            <a:ext cx="5388998" cy="61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4479"/>
              </a:lnSpc>
              <a:buAutoNum type="arabicPeriod"/>
            </a:pPr>
            <a:r>
              <a:rPr lang="en-US" sz="3199" b="1" i="1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Random Forest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24970" y="78907"/>
            <a:ext cx="11638060" cy="101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</a:pPr>
            <a:r>
              <a:rPr lang="en-US" sz="5300" b="1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VISUALISASI HASIL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40944" y="2330554"/>
            <a:ext cx="2171176" cy="61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Percobaan 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08585" y="2330554"/>
            <a:ext cx="2171176" cy="61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Percobaan 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92219" y="7580483"/>
            <a:ext cx="2171176" cy="61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Percobaan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1096812"/>
            <a:ext cx="0" cy="9190188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1446758" y="2208103"/>
            <a:ext cx="4444884" cy="3587526"/>
          </a:xfrm>
          <a:custGeom>
            <a:avLst/>
            <a:gdLst/>
            <a:ahLst/>
            <a:cxnLst/>
            <a:rect l="l" t="t" r="r" b="b"/>
            <a:pathLst>
              <a:path w="4444884" h="3587526">
                <a:moveTo>
                  <a:pt x="0" y="0"/>
                </a:moveTo>
                <a:lnTo>
                  <a:pt x="4444883" y="0"/>
                </a:lnTo>
                <a:lnTo>
                  <a:pt x="4444883" y="3587526"/>
                </a:lnTo>
                <a:lnTo>
                  <a:pt x="0" y="3587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943853" y="2208103"/>
            <a:ext cx="5383210" cy="3587526"/>
          </a:xfrm>
          <a:custGeom>
            <a:avLst/>
            <a:gdLst/>
            <a:ahLst/>
            <a:cxnLst/>
            <a:rect l="l" t="t" r="r" b="b"/>
            <a:pathLst>
              <a:path w="5383210" h="3587526">
                <a:moveTo>
                  <a:pt x="0" y="0"/>
                </a:moveTo>
                <a:lnTo>
                  <a:pt x="5383210" y="0"/>
                </a:lnTo>
                <a:lnTo>
                  <a:pt x="5383210" y="3587526"/>
                </a:lnTo>
                <a:lnTo>
                  <a:pt x="0" y="35875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373" r="-103314" b="-12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87724" y="6374290"/>
            <a:ext cx="8095468" cy="2884010"/>
          </a:xfrm>
          <a:custGeom>
            <a:avLst/>
            <a:gdLst/>
            <a:ahLst/>
            <a:cxnLst/>
            <a:rect l="l" t="t" r="r" b="b"/>
            <a:pathLst>
              <a:path w="8095468" h="2884010">
                <a:moveTo>
                  <a:pt x="0" y="0"/>
                </a:moveTo>
                <a:lnTo>
                  <a:pt x="8095468" y="0"/>
                </a:lnTo>
                <a:lnTo>
                  <a:pt x="8095468" y="2884010"/>
                </a:lnTo>
                <a:lnTo>
                  <a:pt x="0" y="2884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937476" y="6252829"/>
            <a:ext cx="7918983" cy="2884010"/>
          </a:xfrm>
          <a:custGeom>
            <a:avLst/>
            <a:gdLst/>
            <a:ahLst/>
            <a:cxnLst/>
            <a:rect l="l" t="t" r="r" b="b"/>
            <a:pathLst>
              <a:path w="7918983" h="2884010">
                <a:moveTo>
                  <a:pt x="0" y="0"/>
                </a:moveTo>
                <a:lnTo>
                  <a:pt x="7918983" y="0"/>
                </a:lnTo>
                <a:lnTo>
                  <a:pt x="7918983" y="2884011"/>
                </a:lnTo>
                <a:lnTo>
                  <a:pt x="0" y="28840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94610"/>
            </a:stretch>
          </a:blipFill>
        </p:spPr>
      </p:sp>
      <p:sp>
        <p:nvSpPr>
          <p:cNvPr id="7" name="Freeform 7"/>
          <p:cNvSpPr/>
          <p:nvPr/>
        </p:nvSpPr>
        <p:spPr>
          <a:xfrm rot="-576914">
            <a:off x="8811944" y="4555422"/>
            <a:ext cx="1724464" cy="1686696"/>
          </a:xfrm>
          <a:custGeom>
            <a:avLst/>
            <a:gdLst/>
            <a:ahLst/>
            <a:cxnLst/>
            <a:rect l="l" t="t" r="r" b="b"/>
            <a:pathLst>
              <a:path w="1724464" h="1686696">
                <a:moveTo>
                  <a:pt x="0" y="0"/>
                </a:moveTo>
                <a:lnTo>
                  <a:pt x="1724464" y="0"/>
                </a:lnTo>
                <a:lnTo>
                  <a:pt x="1724464" y="1686696"/>
                </a:lnTo>
                <a:lnTo>
                  <a:pt x="0" y="16866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77906" y="1416217"/>
            <a:ext cx="5388998" cy="61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4479"/>
              </a:lnSpc>
              <a:buAutoNum type="arabicPeriod"/>
            </a:pPr>
            <a:r>
              <a:rPr lang="en-US" sz="3199" b="1" i="1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VGG16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02644" y="1416217"/>
            <a:ext cx="5388998" cy="61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4479"/>
              </a:lnSpc>
              <a:buAutoNum type="arabicPeriod"/>
            </a:pPr>
            <a:r>
              <a:rPr lang="en-US" sz="3199" b="1" i="1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MobileNetV2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24970" y="78907"/>
            <a:ext cx="11638060" cy="101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</a:pPr>
            <a:r>
              <a:rPr lang="en-US" sz="5300" b="1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VISUALISASI HASIL</a:t>
            </a:r>
          </a:p>
        </p:txBody>
      </p:sp>
      <p:sp>
        <p:nvSpPr>
          <p:cNvPr id="11" name="Freeform 11"/>
          <p:cNvSpPr/>
          <p:nvPr/>
        </p:nvSpPr>
        <p:spPr>
          <a:xfrm>
            <a:off x="7694599" y="2030262"/>
            <a:ext cx="1724464" cy="1686696"/>
          </a:xfrm>
          <a:custGeom>
            <a:avLst/>
            <a:gdLst/>
            <a:ahLst/>
            <a:cxnLst/>
            <a:rect l="l" t="t" r="r" b="b"/>
            <a:pathLst>
              <a:path w="1724464" h="1686696">
                <a:moveTo>
                  <a:pt x="0" y="0"/>
                </a:moveTo>
                <a:lnTo>
                  <a:pt x="1724463" y="0"/>
                </a:lnTo>
                <a:lnTo>
                  <a:pt x="1724463" y="1686696"/>
                </a:lnTo>
                <a:lnTo>
                  <a:pt x="0" y="16866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43552" flipH="1">
            <a:off x="8016861" y="3845154"/>
            <a:ext cx="1153371" cy="2880426"/>
          </a:xfrm>
          <a:custGeom>
            <a:avLst/>
            <a:gdLst/>
            <a:ahLst/>
            <a:cxnLst/>
            <a:rect l="l" t="t" r="r" b="b"/>
            <a:pathLst>
              <a:path w="1153371" h="2880426">
                <a:moveTo>
                  <a:pt x="1153371" y="0"/>
                </a:moveTo>
                <a:lnTo>
                  <a:pt x="0" y="0"/>
                </a:lnTo>
                <a:lnTo>
                  <a:pt x="0" y="2880427"/>
                </a:lnTo>
                <a:lnTo>
                  <a:pt x="1153371" y="2880427"/>
                </a:lnTo>
                <a:lnTo>
                  <a:pt x="115337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9144000" y="1096812"/>
            <a:ext cx="0" cy="9190188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1067480" y="2206757"/>
            <a:ext cx="4534168" cy="3938056"/>
          </a:xfrm>
          <a:custGeom>
            <a:avLst/>
            <a:gdLst/>
            <a:ahLst/>
            <a:cxnLst/>
            <a:rect l="l" t="t" r="r" b="b"/>
            <a:pathLst>
              <a:path w="4534168" h="3938056">
                <a:moveTo>
                  <a:pt x="0" y="0"/>
                </a:moveTo>
                <a:lnTo>
                  <a:pt x="4534168" y="0"/>
                </a:lnTo>
                <a:lnTo>
                  <a:pt x="4534168" y="3938056"/>
                </a:lnTo>
                <a:lnTo>
                  <a:pt x="0" y="39380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3837" r="-101180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221835" y="2206757"/>
            <a:ext cx="4998115" cy="3938056"/>
          </a:xfrm>
          <a:custGeom>
            <a:avLst/>
            <a:gdLst/>
            <a:ahLst/>
            <a:cxnLst/>
            <a:rect l="l" t="t" r="r" b="b"/>
            <a:pathLst>
              <a:path w="4998115" h="3938056">
                <a:moveTo>
                  <a:pt x="0" y="0"/>
                </a:moveTo>
                <a:lnTo>
                  <a:pt x="4998115" y="0"/>
                </a:lnTo>
                <a:lnTo>
                  <a:pt x="4998115" y="3938056"/>
                </a:lnTo>
                <a:lnTo>
                  <a:pt x="0" y="39380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4621" r="-9965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683409" y="6459138"/>
            <a:ext cx="8115300" cy="2891076"/>
          </a:xfrm>
          <a:custGeom>
            <a:avLst/>
            <a:gdLst/>
            <a:ahLst/>
            <a:cxnLst/>
            <a:rect l="l" t="t" r="r" b="b"/>
            <a:pathLst>
              <a:path w="8115300" h="2891076">
                <a:moveTo>
                  <a:pt x="0" y="0"/>
                </a:moveTo>
                <a:lnTo>
                  <a:pt x="8115300" y="0"/>
                </a:lnTo>
                <a:lnTo>
                  <a:pt x="8115300" y="2891076"/>
                </a:lnTo>
                <a:lnTo>
                  <a:pt x="0" y="28910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03118" y="6487550"/>
            <a:ext cx="8035548" cy="2862664"/>
          </a:xfrm>
          <a:custGeom>
            <a:avLst/>
            <a:gdLst/>
            <a:ahLst/>
            <a:cxnLst/>
            <a:rect l="l" t="t" r="r" b="b"/>
            <a:pathLst>
              <a:path w="8035548" h="2862664">
                <a:moveTo>
                  <a:pt x="0" y="0"/>
                </a:moveTo>
                <a:lnTo>
                  <a:pt x="8035548" y="0"/>
                </a:lnTo>
                <a:lnTo>
                  <a:pt x="8035548" y="2862664"/>
                </a:lnTo>
                <a:lnTo>
                  <a:pt x="0" y="28626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144000" y="1892432"/>
            <a:ext cx="1113328" cy="2998862"/>
          </a:xfrm>
          <a:custGeom>
            <a:avLst/>
            <a:gdLst/>
            <a:ahLst/>
            <a:cxnLst/>
            <a:rect l="l" t="t" r="r" b="b"/>
            <a:pathLst>
              <a:path w="1113328" h="2998862">
                <a:moveTo>
                  <a:pt x="0" y="0"/>
                </a:moveTo>
                <a:lnTo>
                  <a:pt x="1113328" y="0"/>
                </a:lnTo>
                <a:lnTo>
                  <a:pt x="1113328" y="2998862"/>
                </a:lnTo>
                <a:lnTo>
                  <a:pt x="0" y="29988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324970" y="78907"/>
            <a:ext cx="11638060" cy="101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</a:pPr>
            <a:r>
              <a:rPr lang="en-US" sz="5300" b="1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VISUALISASI HASIL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278386"/>
            <a:ext cx="5388998" cy="61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4479"/>
              </a:lnSpc>
              <a:buAutoNum type="arabicPeriod"/>
            </a:pPr>
            <a:r>
              <a:rPr lang="en-US" sz="31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VGG16 + SVM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34625" y="1278386"/>
            <a:ext cx="5999878" cy="61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r">
              <a:lnSpc>
                <a:spcPts val="4479"/>
              </a:lnSpc>
              <a:buAutoNum type="arabicPeriod"/>
            </a:pPr>
            <a:r>
              <a:rPr lang="en-US" sz="3199" b="1" i="1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MobileNetV2 + Random Forest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/>
        </p:nvGraphicFramePr>
        <p:xfrm>
          <a:off x="1028700" y="1994328"/>
          <a:ext cx="16230600" cy="7652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9469100" imgH="10896600" progId="Excel.Sheet.12">
                  <p:embed/>
                </p:oleObj>
              </mc:Choice>
              <mc:Fallback>
                <p:oleObj name="Worksheet" r:id="rId2" imgW="19469100" imgH="10896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700" y="1994328"/>
                        <a:ext cx="16230600" cy="76527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4961466" y="520828"/>
            <a:ext cx="8365069" cy="105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b="1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PERBANDINGAN</a:t>
            </a: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4F5D5BD2-B84D-4370-8493-1A724CCB4F8B}"/>
              </a:ext>
            </a:extLst>
          </p:cNvPr>
          <p:cNvSpPr/>
          <p:nvPr/>
        </p:nvSpPr>
        <p:spPr>
          <a:xfrm>
            <a:off x="16306800" y="8115300"/>
            <a:ext cx="2286000" cy="2439043"/>
          </a:xfrm>
          <a:custGeom>
            <a:avLst/>
            <a:gdLst/>
            <a:ahLst/>
            <a:cxnLst/>
            <a:rect l="l" t="t" r="r" b="b"/>
            <a:pathLst>
              <a:path w="1724464" h="1686696">
                <a:moveTo>
                  <a:pt x="0" y="0"/>
                </a:moveTo>
                <a:lnTo>
                  <a:pt x="1724463" y="0"/>
                </a:lnTo>
                <a:lnTo>
                  <a:pt x="1724463" y="1686696"/>
                </a:lnTo>
                <a:lnTo>
                  <a:pt x="0" y="16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F0F678BA-268C-26FA-9A5A-85B99E46BF12}"/>
              </a:ext>
            </a:extLst>
          </p:cNvPr>
          <p:cNvSpPr/>
          <p:nvPr/>
        </p:nvSpPr>
        <p:spPr>
          <a:xfrm>
            <a:off x="-1066800" y="-952500"/>
            <a:ext cx="3732051" cy="3692348"/>
          </a:xfrm>
          <a:custGeom>
            <a:avLst/>
            <a:gdLst/>
            <a:ahLst/>
            <a:cxnLst/>
            <a:rect l="l" t="t" r="r" b="b"/>
            <a:pathLst>
              <a:path w="3732051" h="3692348">
                <a:moveTo>
                  <a:pt x="0" y="0"/>
                </a:moveTo>
                <a:lnTo>
                  <a:pt x="3732051" y="0"/>
                </a:lnTo>
                <a:lnTo>
                  <a:pt x="3732051" y="3692348"/>
                </a:lnTo>
                <a:lnTo>
                  <a:pt x="0" y="36923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888873">
            <a:off x="16462480" y="6325227"/>
            <a:ext cx="2093972" cy="3381920"/>
          </a:xfrm>
          <a:custGeom>
            <a:avLst/>
            <a:gdLst/>
            <a:ahLst/>
            <a:cxnLst/>
            <a:rect l="l" t="t" r="r" b="b"/>
            <a:pathLst>
              <a:path w="2093972" h="3381920">
                <a:moveTo>
                  <a:pt x="0" y="0"/>
                </a:moveTo>
                <a:lnTo>
                  <a:pt x="2093973" y="0"/>
                </a:lnTo>
                <a:lnTo>
                  <a:pt x="2093973" y="3381921"/>
                </a:lnTo>
                <a:lnTo>
                  <a:pt x="0" y="3381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44929" y="1697428"/>
            <a:ext cx="15858153" cy="9633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14"/>
              </a:lnSpc>
            </a:pPr>
            <a:endParaRPr/>
          </a:p>
          <a:p>
            <a:pPr marL="619021" lvl="1" indent="-309511" algn="just">
              <a:lnSpc>
                <a:spcPts val="4014"/>
              </a:lnSpc>
              <a:buFont typeface="Arial"/>
              <a:buChar char="•"/>
            </a:pPr>
            <a:r>
              <a:rPr lang="en-US" sz="286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lang="en-US" sz="28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istem </a:t>
            </a:r>
            <a:r>
              <a:rPr lang="en-US" sz="286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otomatisasi </a:t>
            </a:r>
            <a:r>
              <a:rPr lang="en-US" sz="28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mampu memisahkan batasan fitur visual objek secara </a:t>
            </a:r>
            <a:r>
              <a:rPr lang="en-US" sz="286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objektif</a:t>
            </a:r>
            <a:r>
              <a:rPr lang="en-US" sz="28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dan </a:t>
            </a:r>
            <a:r>
              <a:rPr lang="en-US" sz="286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terukur</a:t>
            </a:r>
            <a:r>
              <a:rPr lang="en-US" sz="28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 </a:t>
            </a:r>
          </a:p>
          <a:p>
            <a:pPr marL="619021" lvl="1" indent="-309511" algn="just">
              <a:lnSpc>
                <a:spcPts val="4014"/>
              </a:lnSpc>
              <a:buFont typeface="Arial"/>
              <a:buChar char="•"/>
            </a:pPr>
            <a:r>
              <a:rPr lang="en-US" sz="28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Eksperimen diselesaikan dengan menguji keandalan dua pendekatan, yaitu </a:t>
            </a:r>
            <a:r>
              <a:rPr lang="en-US" sz="286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metode Machine Learning konvensional</a:t>
            </a:r>
            <a:r>
              <a:rPr lang="en-US" sz="28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(Random Forest, SVM + HOG) dan </a:t>
            </a:r>
            <a:r>
              <a:rPr lang="en-US" sz="286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metode Deep Learning</a:t>
            </a:r>
            <a:r>
              <a:rPr lang="en-US" sz="28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(MobileNetV2, VGG1, VGG16+SVM dan MobileNetV2+RF). </a:t>
            </a:r>
          </a:p>
          <a:p>
            <a:pPr marL="619021" lvl="1" indent="-309511" algn="just">
              <a:lnSpc>
                <a:spcPts val="4014"/>
              </a:lnSpc>
              <a:buFont typeface="Arial"/>
              <a:buChar char="•"/>
            </a:pPr>
            <a:r>
              <a:rPr lang="en-US" sz="286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Hasil</a:t>
            </a:r>
            <a:r>
              <a:rPr lang="en-US" sz="28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Pendekatan Deep Learning dan arsitektur hibrida memilik </a:t>
            </a:r>
            <a:r>
              <a:rPr lang="en-US" sz="286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performa</a:t>
            </a:r>
            <a:r>
              <a:rPr lang="en-US" sz="28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86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lebih baik </a:t>
            </a:r>
            <a:r>
              <a:rPr lang="en-US" sz="28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dibandingkan Machine Learning klasik. </a:t>
            </a:r>
          </a:p>
          <a:p>
            <a:pPr marL="619021" lvl="1" indent="-309511" algn="just">
              <a:lnSpc>
                <a:spcPts val="4014"/>
              </a:lnSpc>
              <a:buFont typeface="Arial"/>
              <a:buChar char="•"/>
            </a:pPr>
            <a:r>
              <a:rPr lang="en-US" sz="28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Pemanfaatan </a:t>
            </a:r>
            <a:r>
              <a:rPr lang="en-US" sz="286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jaringan saraf konvolusi</a:t>
            </a:r>
            <a:r>
              <a:rPr lang="en-US" sz="28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mampu mengekstrak representasi fitur hierarkis tersembunyi yang jauh lebih diskriminatif.</a:t>
            </a:r>
          </a:p>
          <a:p>
            <a:pPr algn="just">
              <a:lnSpc>
                <a:spcPts val="4014"/>
              </a:lnSpc>
            </a:pPr>
            <a:r>
              <a:rPr lang="en-US" sz="286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Kendala:</a:t>
            </a:r>
          </a:p>
          <a:p>
            <a:pPr algn="just">
              <a:lnSpc>
                <a:spcPts val="4014"/>
              </a:lnSpc>
            </a:pPr>
            <a:r>
              <a:rPr lang="en-US" sz="28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</a:t>
            </a:r>
            <a:r>
              <a:rPr lang="en-US" sz="286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Penurunan validasi akurasi</a:t>
            </a:r>
            <a:r>
              <a:rPr lang="en-US" sz="28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pada phase 2 VGG16.</a:t>
            </a:r>
          </a:p>
          <a:p>
            <a:pPr algn="just">
              <a:lnSpc>
                <a:spcPts val="4014"/>
              </a:lnSpc>
            </a:pPr>
            <a:r>
              <a:rPr lang="en-US" sz="28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2.Confusion matrix lintas model konsisten menunjukkan </a:t>
            </a:r>
            <a:r>
              <a:rPr lang="en-US" sz="286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tumpang tindih prediksi</a:t>
            </a:r>
            <a:r>
              <a:rPr lang="en-US" sz="28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antara Melati Jakarta (Jasminum sambac) dan Melati Jepang (Pseuderanthemum reticulatum). </a:t>
            </a:r>
          </a:p>
          <a:p>
            <a:pPr algn="just">
              <a:lnSpc>
                <a:spcPts val="4014"/>
              </a:lnSpc>
            </a:pPr>
            <a:r>
              <a:rPr lang="en-US" sz="28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3.Perangkat peneliti dengan </a:t>
            </a:r>
            <a:r>
              <a:rPr lang="en-US" sz="2867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spesifikasi yang masih kurang baik</a:t>
            </a:r>
            <a:r>
              <a:rPr lang="en-US" sz="286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memperlambat pelatihan dan pengujian model.</a:t>
            </a:r>
          </a:p>
          <a:p>
            <a:pPr algn="just">
              <a:lnSpc>
                <a:spcPts val="4014"/>
              </a:lnSpc>
            </a:pPr>
            <a:endParaRPr lang="en-US" sz="2867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just">
              <a:lnSpc>
                <a:spcPts val="4014"/>
              </a:lnSpc>
            </a:pPr>
            <a:endParaRPr lang="en-US" sz="2867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just">
              <a:lnSpc>
                <a:spcPts val="4014"/>
              </a:lnSpc>
            </a:pPr>
            <a:endParaRPr lang="en-US" sz="2867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just">
              <a:lnSpc>
                <a:spcPts val="4014"/>
              </a:lnSpc>
            </a:pPr>
            <a:endParaRPr lang="en-US" sz="2867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414919" y="-641672"/>
            <a:ext cx="2895771" cy="2993045"/>
          </a:xfrm>
          <a:custGeom>
            <a:avLst/>
            <a:gdLst/>
            <a:ahLst/>
            <a:cxnLst/>
            <a:rect l="l" t="t" r="r" b="b"/>
            <a:pathLst>
              <a:path w="2895771" h="2993045">
                <a:moveTo>
                  <a:pt x="0" y="0"/>
                </a:moveTo>
                <a:lnTo>
                  <a:pt x="2895771" y="0"/>
                </a:lnTo>
                <a:lnTo>
                  <a:pt x="2895771" y="2993045"/>
                </a:lnTo>
                <a:lnTo>
                  <a:pt x="0" y="29930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95040" y="420365"/>
            <a:ext cx="11097919" cy="105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b="1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Kesimpulan &amp; Kendala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8975" y="429122"/>
            <a:ext cx="1284251" cy="1342626"/>
          </a:xfrm>
          <a:custGeom>
            <a:avLst/>
            <a:gdLst/>
            <a:ahLst/>
            <a:cxnLst/>
            <a:rect l="l" t="t" r="r" b="b"/>
            <a:pathLst>
              <a:path w="1284251" h="1342626">
                <a:moveTo>
                  <a:pt x="0" y="0"/>
                </a:moveTo>
                <a:lnTo>
                  <a:pt x="1284251" y="0"/>
                </a:lnTo>
                <a:lnTo>
                  <a:pt x="1284251" y="1342627"/>
                </a:lnTo>
                <a:lnTo>
                  <a:pt x="0" y="13426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3226" y="429122"/>
            <a:ext cx="4396248" cy="1344140"/>
          </a:xfrm>
          <a:custGeom>
            <a:avLst/>
            <a:gdLst/>
            <a:ahLst/>
            <a:cxnLst/>
            <a:rect l="l" t="t" r="r" b="b"/>
            <a:pathLst>
              <a:path w="4396248" h="1344140">
                <a:moveTo>
                  <a:pt x="0" y="0"/>
                </a:moveTo>
                <a:lnTo>
                  <a:pt x="4396248" y="0"/>
                </a:lnTo>
                <a:lnTo>
                  <a:pt x="4396248" y="1344140"/>
                </a:lnTo>
                <a:lnTo>
                  <a:pt x="0" y="1344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107130" y="7070374"/>
            <a:ext cx="1152170" cy="2880426"/>
          </a:xfrm>
          <a:custGeom>
            <a:avLst/>
            <a:gdLst/>
            <a:ahLst/>
            <a:cxnLst/>
            <a:rect l="l" t="t" r="r" b="b"/>
            <a:pathLst>
              <a:path w="1152170" h="2880426">
                <a:moveTo>
                  <a:pt x="1152170" y="0"/>
                </a:moveTo>
                <a:lnTo>
                  <a:pt x="0" y="0"/>
                </a:lnTo>
                <a:lnTo>
                  <a:pt x="0" y="2880427"/>
                </a:lnTo>
                <a:lnTo>
                  <a:pt x="1152170" y="2880427"/>
                </a:lnTo>
                <a:lnTo>
                  <a:pt x="115217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1028700" y="6515018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3049225" y="3813162"/>
            <a:ext cx="12189550" cy="220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98"/>
              </a:lnSpc>
            </a:pPr>
            <a:r>
              <a:rPr lang="en-US" sz="114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TERIMA KASIH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1101" y="7648575"/>
            <a:ext cx="6705997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Oleh: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Muhammad Rizki Ramadhan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NIM. 2310817310008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433690" y="333872"/>
            <a:ext cx="4105600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Proyek Akhir Machine Learning</a:t>
            </a:r>
          </a:p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Juni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691</Words>
  <Application>Microsoft Office PowerPoint</Application>
  <PresentationFormat>Custom</PresentationFormat>
  <Paragraphs>139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Calibri (MS)</vt:lpstr>
      <vt:lpstr>Calibri (MS) Bold</vt:lpstr>
      <vt:lpstr>Arial</vt:lpstr>
      <vt:lpstr>Calibri (MS) Bold Italics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Pink and Brown Aesthetic Flower Brainstorm Presentation</dc:title>
  <cp:lastModifiedBy>rizki ramadhan</cp:lastModifiedBy>
  <cp:revision>2</cp:revision>
  <dcterms:created xsi:type="dcterms:W3CDTF">2006-08-16T00:00:00Z</dcterms:created>
  <dcterms:modified xsi:type="dcterms:W3CDTF">2026-06-16T07:55:37Z</dcterms:modified>
  <dc:identifier>DAHMpSnxVTM</dc:identifier>
</cp:coreProperties>
</file>